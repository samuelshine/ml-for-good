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70632"/>
            <a:ext cx="12191695" cy="4572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FFFFFF"/>
                </a:solidFill>
                <a:latin typeface="Calibri"/>
              </a:rPr>
              <a:t>Who Gets the Call?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3327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B8C4D4"/>
                </a:solidFill>
                <a:latin typeface="Calibri"/>
              </a:rPr>
              <a:t>Predicting 30-day hospital readmission for diabetic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ML for Social Good Ensemble Challenge  ·  CIA 3  ·  Mission Health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MCA 521-4 Machine Learning  ·  CHRIST (Deemed to be University)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8E9EB5"/>
                </a:solidFill>
                <a:latin typeface="Calibri"/>
              </a:rPr>
              <a:t>Best model: Stacking   ·   Test ROC-AUC 0.6574   ·   2.44× lift at 10% capacity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8E9EB5"/>
                </a:solidFill>
                <a:latin typeface="Calibri"/>
              </a:rPr>
              <a:t>Dataset: UCI Diabetes 130-US Hospitals (Strack et al., 2014)  ·  CC BY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Mission Health · under-resourced clinics, fixed follow-up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3566160" cy="1371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64008" cy="13716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26464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D1495B"/>
                </a:solidFill>
                <a:latin typeface="Calibri"/>
              </a:rPr>
              <a:t>1 in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48256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470"/>
                </a:solidFill>
                <a:latin typeface="Calibri"/>
              </a:rPr>
              <a:t>diabetic inpatients readmitted within 30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280160"/>
            <a:ext cx="3566160" cy="1371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280160"/>
            <a:ext cx="64008" cy="1371600"/>
          </a:xfrm>
          <a:prstGeom prst="rect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26464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D1495B"/>
                </a:solidFill>
                <a:latin typeface="Calibri"/>
              </a:rPr>
              <a:t>$15,000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48256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470"/>
                </a:solidFill>
                <a:latin typeface="Calibri"/>
              </a:rPr>
              <a:t>cost of one avoidable readmission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1280160"/>
            <a:ext cx="3566160" cy="1371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280160"/>
            <a:ext cx="64008" cy="1371600"/>
          </a:xfrm>
          <a:prstGeom prst="rect">
            <a:avLst/>
          </a:prstGeom>
          <a:solidFill>
            <a:srgbClr val="009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426464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916E"/>
                </a:solidFill>
                <a:latin typeface="Calibri"/>
              </a:rPr>
              <a:t>$75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048256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470"/>
                </a:solidFill>
                <a:latin typeface="Calibri"/>
              </a:rPr>
              <a:t>cost of one nurse follow-up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17520"/>
            <a:ext cx="11155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B2A41"/>
                </a:solidFill>
                <a:latin typeface="Calibri"/>
              </a:rPr>
              <a:t>The gap is not knowing that calls work. It is knowing who to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0332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70332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Beneficiaries: diabetic inpatients (especially uninsured and high-utilising)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23944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123944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Discharge nurses, who get a ranked worklist instead of an undifferentiated ward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44568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544568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Safety-net hospitals carrying fixed capacity and rising CMS penalties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65192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965192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Prediction target: P(readmission &lt; 30 days), evaluated at the moment of discharge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8581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916E"/>
                </a:solidFill>
                <a:latin typeface="Calibr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385816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Impact metric: precision@10% and lift@10% — not accuracy, which is meaningless at a 9% base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101,766 encounters · 130 US hospitals · peer-reviewed at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23444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UCI Diabetes 130-US Hospitals, 1999–2008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18488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Published with Strack et al. (2014), BioMed Research International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02536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CC BY 4.0 · de-identified under HIPAA Safe Harbor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86584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86584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50 columns: demographics, utilisation, 23 drugs, ICD-9 diagnoses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70632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770632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Chosen because it genuinely contains every wrangling problem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154680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   brief asks us to handle — not a pre-cleaned benchmark</a:t>
            </a:r>
          </a:p>
        </p:txBody>
      </p:sp>
      <p:pic>
        <p:nvPicPr>
          <p:cNvPr id="17" name="Picture 16" descr="01_missing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486400" cy="21370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4114800"/>
            <a:ext cx="5486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470"/>
                </a:solidFill>
                <a:latin typeface="Calibri"/>
              </a:rPr>
              <a:t>Four columns, four different policies: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470"/>
                </a:solidFill>
                <a:latin typeface="Calibri"/>
              </a:rPr>
              <a:t>  weight 96.9% → drop the value, keep 'was weighed' as a feature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470"/>
                </a:solidFill>
                <a:latin typeface="Calibri"/>
              </a:rPr>
              <a:t>  medical_specialty 49.1% → explicit Unknown level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470"/>
                </a:solidFill>
                <a:latin typeface="Calibri"/>
              </a:rPr>
              <a:t>  payer_code 39.6% → Unknown level; proxies for uninsured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470"/>
                </a:solidFill>
                <a:latin typeface="Calibri"/>
              </a:rPr>
              <a:t>  race 2.2% → Unknown; never imputed, it is a protected attribute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Cleaning was the hard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Every dropped row is logged with a reason</a:t>
            </a:r>
          </a:p>
        </p:txBody>
      </p:sp>
      <p:pic>
        <p:nvPicPr>
          <p:cNvPr id="5" name="Picture 4" descr="03_encounters_per_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5669280" cy="2031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37160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1495B"/>
                </a:solidFill>
                <a:latin typeface="Calibri"/>
              </a:rPr>
              <a:t>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3408" y="1371600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101,766 rows are only 71,518 patients — one appears 40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7393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8" y="1773936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Rows are not independent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76272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2176272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Kept each patient's first encounter (as Strack et al. did)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78608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578608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Dropped 2,423 encounters ending in death or hospice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80944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980944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   a patient who died cannot be readmitted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16E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3383280"/>
            <a:ext cx="53949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Positive rate fell 11.16% → 8.98% after de-duplication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617720"/>
            <a:ext cx="5394960" cy="1600200"/>
          </a:xfrm>
          <a:prstGeom prst="rect">
            <a:avLst/>
          </a:prstGeom>
          <a:solidFill>
            <a:srgbClr val="FF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754880"/>
            <a:ext cx="50292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D1495B"/>
                </a:solidFill>
                <a:latin typeface="Calibri"/>
              </a:rPr>
              <a:t>That 2.2-point drop is the finding: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D1495B"/>
                </a:solidFill>
                <a:latin typeface="Calibri"/>
              </a:rPr>
              <a:t>repeat encounters skew positive, so encounter-level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D1495B"/>
                </a:solidFill>
                <a:latin typeface="Calibri"/>
              </a:rPr>
              <a:t>modelling quietly flatters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What the data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Every claim is a plot, not an assertion</a:t>
            </a:r>
          </a:p>
        </p:txBody>
      </p:sp>
      <p:pic>
        <p:nvPicPr>
          <p:cNvPr id="5" name="Picture 4" descr="06_prior_in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577840" cy="3577553"/>
          </a:xfrm>
          <a:prstGeom prst="rect">
            <a:avLst/>
          </a:prstGeom>
        </p:spPr>
      </p:pic>
      <p:pic>
        <p:nvPicPr>
          <p:cNvPr id="6" name="Picture 5" descr="07_a1c_repl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486400" cy="19618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9204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489204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Readmission rises monotonically with prior admissions: 8.1% → 29.3%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9437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16E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5294376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We reproduce the source paper's HbA1c finding (8.40% tested vs 9.11% not) — a credibility check on our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96712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696712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HbA1c testing is one of the few actionable levers; age and race are not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Leakage-safe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Asserted in code, not claimed in prose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280160"/>
            <a:ext cx="5577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Stratified 60/20/20 split, seed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8249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82496"/>
            <a:ext cx="5577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One row per patient ⇒ no patient can straddle a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2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84832"/>
            <a:ext cx="5577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Every transform lives inside an sklearn Pipeline,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87168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487168"/>
            <a:ext cx="5577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   so CV refits it on each fold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9504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889504"/>
            <a:ext cx="5577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Test set untouched until the final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291840"/>
            <a:ext cx="5577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Class weights, not SMOTE: interpolating between one-hot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9417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694176"/>
            <a:ext cx="55778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   medical categories invents patients who cannot exist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0" y="137160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429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Positive rate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</a:rPr>
                        <a:t>41,991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</a:rPr>
                        <a:t>8.98%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</a:rPr>
                        <a:t>13,998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</a:rPr>
                        <a:t>8.98%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</a:rPr>
                        <a:t>13,998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</a:rPr>
                        <a:t>8.98%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400800" y="3200400"/>
            <a:ext cx="5303520" cy="28346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364992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A41"/>
                </a:solidFill>
                <a:latin typeface="Calibri"/>
              </a:rPr>
              <a:t>Imputer chosen by experiment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94760"/>
            <a:ext cx="493776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Calibri"/>
              </a:rPr>
              <a:t>No numeric gaps remain after our policy, so we injected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Calibri"/>
              </a:rPr>
              <a:t>MCAR missingness to answer a deployment question: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Calibri"/>
              </a:rPr>
              <a:t>At 30% missing —  KNN 0.6295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Calibri"/>
              </a:rPr>
              <a:t>                              median 0.6130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Calibri"/>
              </a:rPr>
              <a:t>                              MICE 0.5992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Calibri"/>
              </a:rPr>
              <a:t>KNN degrades most gracefully.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Baseline vs bagging vs boosting vs stacking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Eight models, one untouched test set</a:t>
            </a:r>
          </a:p>
        </p:txBody>
      </p:sp>
      <p:pic>
        <p:nvPicPr>
          <p:cNvPr id="5" name="Picture 4" descr="1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4334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111556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70"/>
                </a:solidFill>
                <a:latin typeface="Calibri"/>
              </a:rPr>
              <a:t>Stacking uses 5-fold internal CV so base learners only ever produce out-of-fold predictions — that is what stops the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70"/>
                </a:solidFill>
                <a:latin typeface="Calibri"/>
              </a:rPr>
              <a:t>meta-learner from rewarding whichever base model memorised hardest.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Does the ensemble beat the baseline?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Answered with a confidence interval, not a bigger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566160" cy="1371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64008" cy="1371600"/>
          </a:xfrm>
          <a:prstGeom prst="rect">
            <a:avLst/>
          </a:prstGeom>
          <a:solidFill>
            <a:srgbClr val="009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0744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0916E"/>
                </a:solidFill>
                <a:latin typeface="Calibri"/>
              </a:rPr>
              <a:t>0.6574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02536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470"/>
                </a:solidFill>
                <a:latin typeface="Calibri"/>
              </a:rPr>
              <a:t>Stacking — test 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234440"/>
            <a:ext cx="3566160" cy="1371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234440"/>
            <a:ext cx="64008" cy="1371600"/>
          </a:xfrm>
          <a:prstGeom prst="rect">
            <a:avLst/>
          </a:prstGeom>
          <a:solidFill>
            <a:srgbClr val="5A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380744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A6470"/>
                </a:solidFill>
                <a:latin typeface="Calibri"/>
              </a:rPr>
              <a:t>0.6467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02536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470"/>
                </a:solidFill>
                <a:latin typeface="Calibri"/>
              </a:rPr>
              <a:t>Logistic baseline — test 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1234440"/>
            <a:ext cx="3566160" cy="1371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234440"/>
            <a:ext cx="64008" cy="13716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380744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E5EAA"/>
                </a:solidFill>
                <a:latin typeface="Calibri"/>
              </a:rPr>
              <a:t>+0.0107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002536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470"/>
                </a:solidFill>
                <a:latin typeface="Calibri"/>
              </a:rPr>
              <a:t>difference · 95% CI excludes zero</a:t>
            </a:r>
          </a:p>
        </p:txBody>
      </p:sp>
      <p:pic>
        <p:nvPicPr>
          <p:cNvPr id="17" name="Picture 16" descr="17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880360"/>
            <a:ext cx="9601200" cy="44838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5120640"/>
            <a:ext cx="1115568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B2A41"/>
                </a:solidFill>
                <a:latin typeface="Calibri"/>
              </a:rPr>
              <a:t>Yes — significantly, but modestly. Bootstrap 95% CI [+0.0043, +0.0171] over 2,000 resamples; McNemar agrees.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B2A41"/>
                </a:solidFill>
                <a:latin typeface="Calibri"/>
              </a:rPr>
              <a:t>An AUC near 0.66 matches the published ceiling on this dataset. The limit is the data: housing, food security and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B2A41"/>
                </a:solidFill>
                <a:latin typeface="Calibri"/>
              </a:rPr>
              <a:t>caregiver support drive readmission, and none of them are in a discharge record. Reporting 0.95 here would mean a leak.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The threshold is a rationing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0.5 is a library default, not a clinical choice</a:t>
            </a:r>
          </a:p>
        </p:txBody>
      </p:sp>
      <p:pic>
        <p:nvPicPr>
          <p:cNvPr id="5" name="Picture 4" descr="13_cost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675120" cy="36380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37160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9248" y="1371600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A missed readmission costs ~200× a phone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82880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1495B"/>
                </a:solidFill>
                <a:latin typeface="Calibri"/>
              </a:rPr>
              <a:t>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1828800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So unconstrained cost optimisation says: call everyone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28600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286000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Correct for a clinic with unlimited nurses.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74320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743200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   Useless for a real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20040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16E"/>
                </a:solidFill>
                <a:latin typeface="Calibri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200400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Capacity — not cost — is the binding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65760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16E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657600"/>
            <a:ext cx="43891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Deployed threshold 0.655, flagging ~10%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572000"/>
            <a:ext cx="4389120" cy="1600200"/>
          </a:xfrm>
          <a:prstGeom prst="rect">
            <a:avLst/>
          </a:prstGeom>
          <a:solidFill>
            <a:srgbClr val="E8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736592"/>
            <a:ext cx="40233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00916E"/>
                </a:solidFill>
                <a:latin typeface="Calibri"/>
              </a:rPr>
              <a:t>At 10% capacity: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0916E"/>
                </a:solidFill>
                <a:latin typeface="Calibri"/>
              </a:rPr>
              <a:t>  precision 21.9%  vs  9.0% base rate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0916E"/>
                </a:solidFill>
                <a:latin typeface="Calibri"/>
              </a:rPr>
              <a:t>  → 2.44× more at-risk patients reached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0916E"/>
                </a:solidFill>
                <a:latin typeface="Calibri"/>
              </a:rPr>
              <a:t>  with the same nurse hours.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Why the model says what it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SHAP, cross-checked against two other methods</a:t>
            </a:r>
          </a:p>
        </p:txBody>
      </p:sp>
      <p:pic>
        <p:nvPicPr>
          <p:cNvPr id="5" name="Picture 4" descr="18_shap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5760720" cy="26664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37160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4848" y="1371600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Prior inpatient visits dominate — matching the 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7393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1773936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   gradient and mutual information, independently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76272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176272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Directions match what we predicted before looking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78608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578608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Cross-checked with permutation importance and LIME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80944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980944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16E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3383280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Actionable: HbA1c testing, medication reconciliation,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8561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916E"/>
                </a:solidFill>
                <a:latin typeface="Calibr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785616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   discharge destination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87952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4187952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Descriptive only: age, race, prior visit 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57800"/>
            <a:ext cx="53035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70"/>
                </a:solidFill>
                <a:latin typeface="Calibri"/>
              </a:rPr>
              <a:t>A model whose top features were all descriptive would rank well and change nothing. Several of these are modifiable.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One patient, one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The live demo, on a synthetic record</a:t>
            </a:r>
          </a:p>
        </p:txBody>
      </p:sp>
      <p:pic>
        <p:nvPicPr>
          <p:cNvPr id="5" name="Picture 4" descr="21_demo_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583680" cy="23144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46304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463040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78-year-old, three prior admissions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83664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1883664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HbA1c above 8, no payer code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304288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304288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Discharged to a skilled nursing facility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724912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724912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0" y="314553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1495B"/>
                </a:solidFill>
                <a:latin typeface="Calibri"/>
              </a:rPr>
              <a:t>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3145536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Flagged for a follow-up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56616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566160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Each contribution shown in log-odds 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986784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3986784"/>
            <a:ext cx="4480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B2A41"/>
                </a:solidFill>
                <a:latin typeface="Calibri"/>
              </a:rPr>
              <a:t>   auditable, not decorative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892040"/>
            <a:ext cx="4480560" cy="1280160"/>
          </a:xfrm>
          <a:prstGeom prst="rect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5074920"/>
            <a:ext cx="411480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6D1F"/>
                </a:solidFill>
                <a:latin typeface="Calibri"/>
              </a:rPr>
              <a:t>Abstention band 0.40–0.60 routes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6D1F"/>
                </a:solidFill>
                <a:latin typeface="Calibri"/>
              </a:rPr>
              <a:t>borderline cases to human review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A6D1F"/>
                </a:solidFill>
                <a:latin typeface="Calibri"/>
              </a:rPr>
              <a:t>instead of auto-deciding.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The fairness audit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And that is the most important slide here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Attribute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Disparate impact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Passes 4/5ths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AUC gap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0.541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0.101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gender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0.945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0.015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age_band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0.164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0.183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payer_group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0.265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</a:rPr>
                        <a:t>0.074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0" y="1234440"/>
            <a:ext cx="5394960" cy="2377440"/>
          </a:xfrm>
          <a:prstGeom prst="rect">
            <a:avLst/>
          </a:prstGeom>
          <a:solidFill>
            <a:srgbClr val="FF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417320"/>
            <a:ext cx="502920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D1495B"/>
                </a:solidFill>
                <a:latin typeface="Calibri"/>
              </a:rPr>
              <a:t>Equal need, unequal service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D1495B"/>
                </a:solidFill>
                <a:latin typeface="Calibri"/>
              </a:rPr>
              <a:t>African American patients:  9.23% readmission rate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D1495B"/>
                </a:solidFill>
                <a:latin typeface="Calibri"/>
              </a:rPr>
              <a:t>Caucasian patients:              9.07% readmission rate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D1495B"/>
                </a:solidFill>
                <a:latin typeface="Calibri"/>
              </a:rPr>
              <a:t>Flagged for follow-up:  8.0%  vs  10.2%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D1495B"/>
                </a:solidFill>
                <a:latin typeface="Calibri"/>
              </a:rPr>
              <a:t>Recall:                            19.9%  vs  25.0%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4048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1495B"/>
                </a:solidFill>
                <a:latin typeface="Calibri"/>
              </a:rPr>
              <a:t>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84048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A41"/>
                </a:solidFill>
                <a:latin typeface="Calibri"/>
              </a:rPr>
              <a:t>Not explained by differing risk — the underlying risk is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24528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1495B"/>
                </a:solidFill>
                <a:latin typeface="Calibri"/>
              </a:rPr>
              <a:t>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224528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A41"/>
                </a:solidFill>
                <a:latin typeface="Calibri"/>
              </a:rPr>
              <a:t>Label bias runs deeper: only same-network readmissions are recorded, so mobile and uninsured patients 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08576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1495B"/>
                </a:solidFill>
                <a:latin typeface="Calibri"/>
              </a:rPr>
              <a:t>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608576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A41"/>
                </a:solidFill>
                <a:latin typeface="Calibri"/>
              </a:rPr>
              <a:t>   systematically labelled negative. No fairness metric above can see this — they all use the same biased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92624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992624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A41"/>
                </a:solidFill>
                <a:latin typeface="Calibri"/>
              </a:rPr>
              <a:t>Per-group thresholds would equalise recall, but conditioning a clinical cut-off on race is not a fix we would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76672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916E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376672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A41"/>
                </a:solidFill>
                <a:latin typeface="Calibri"/>
              </a:rPr>
              <a:t>This result only appeared once the threshold was set honestly. At a threshold that flags everyone, everything passes.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libri"/>
              </a:rPr>
              <a:t>What this model cannot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0972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8C4D4"/>
                </a:solidFill>
                <a:latin typeface="Calibri"/>
              </a:rPr>
              <a:t>Stated plainly, because the alternative is unsafe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1495B"/>
                </a:solidFill>
                <a:latin typeface="Calibri"/>
              </a:rPr>
              <a:t>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28016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Near-random (AUC 0.566) on repeat high-utilisers vs 0.687 on first admissions — weakest where need is greatest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1495B"/>
                </a:solidFill>
                <a:latin typeface="Calibri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8308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Fails the four-fifths rule on race, payer and age → not deployment-ready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1495B"/>
                </a:solidFill>
                <a:latin typeface="Calibri"/>
              </a:rPr>
              <a:t>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8600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Labels miss out-of-network readmissions, biased against the most vulnerable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8892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1999–2008 US data; not transferable to Indian clinics without prospective revalidation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29184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Triage aid only — never care denial, insurance pricing, discharge decisions, or staff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2A41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79476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Clinician override mandatory, and never logged against the clinician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2743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916E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29768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B2A41"/>
                </a:solidFill>
                <a:latin typeface="Calibri"/>
              </a:rPr>
              <a:t>Privacy: de-identified at source, no PII added, all demo records synthetic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257800"/>
            <a:ext cx="11155680" cy="9601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2A41"/>
                </a:solidFill>
                <a:latin typeface="Calibri"/>
              </a:rPr>
              <a:t>The fairness audit was not a box to tick. It produced a result that blocks release — which is what an audit is for.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45720"/>
          </a:xfrm>
          <a:prstGeom prst="rect">
            <a:avLst/>
          </a:prstGeom>
          <a:solidFill>
            <a:srgbClr val="009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Same nurse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0916E"/>
                </a:solidFill>
                <a:latin typeface="Calibri"/>
              </a:rPr>
              <a:t>2.4× more at-risk patients reached.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>
                <a:solidFill>
                  <a:srgbClr val="B8C4D4"/>
                </a:solidFill>
                <a:latin typeface="Calibri"/>
              </a:rPr>
              <a:t>With an explanation attached to every flag,</a:t>
            </a:r>
          </a:p>
          <a:p>
            <a:pPr algn="l">
              <a:lnSpc>
                <a:spcPct val="150000"/>
              </a:lnSpc>
            </a:pPr>
            <a:r>
              <a:rPr sz="1900" b="0">
                <a:solidFill>
                  <a:srgbClr val="B8C4D4"/>
                </a:solidFill>
                <a:latin typeface="Calibri"/>
              </a:rPr>
              <a:t>and an explicit statement of who the model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8E9EB5"/>
                </a:solidFill>
                <a:latin typeface="Calibri"/>
              </a:rPr>
              <a:t>make setup &amp;&amp; make data &amp;&amp; make train &amp;&amp; make app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8E9EB5"/>
                </a:solidFill>
                <a:latin typeface="Calibri"/>
              </a:rPr>
              <a:t>Strack et al. (2014) · UCI ML Repository #296 ·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